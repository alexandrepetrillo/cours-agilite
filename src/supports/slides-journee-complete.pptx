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3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371600"/>
            <a:ext cx="121889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/>
              <a:t>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112745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Méthodologies Agile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i="1">
                <a:solidFill>
                  <a:srgbClr val="90E0EF"/>
                </a:solidFill>
              </a:rPr>
              <a:t>Journée 2 — US, Kanban, XP &amp; Clôture  |  09h00 – 17h00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3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📋  Programme de la journée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0077B6"/>
                </a:solidFill>
              </a:rPr>
              <a:t>09h00</a:t>
            </a:r>
            <a:r>
              <a:rPr sz="2000">
                <a:solidFill>
                  <a:srgbClr val="333333"/>
                </a:solidFill>
              </a:rPr>
              <a:t> — Stand-Up Comedy (Daily revisité)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0077B6"/>
                </a:solidFill>
              </a:rPr>
              <a:t>09h15</a:t>
            </a:r>
            <a:r>
              <a:rPr sz="2000">
                <a:solidFill>
                  <a:srgbClr val="333333"/>
                </a:solidFill>
              </a:rPr>
              <a:t> — User Stories &amp; Definition of Done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0077B6"/>
                </a:solidFill>
              </a:rPr>
              <a:t>09h45</a:t>
            </a:r>
            <a:r>
              <a:rPr sz="2000">
                <a:solidFill>
                  <a:srgbClr val="333333"/>
                </a:solidFill>
              </a:rPr>
              <a:t> — Atelier US + priorisation + chiffrage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0077B6"/>
                </a:solidFill>
              </a:rPr>
              <a:t>10h45</a:t>
            </a:r>
            <a:r>
              <a:rPr sz="2000">
                <a:solidFill>
                  <a:srgbClr val="333333"/>
                </a:solidFill>
              </a:rPr>
              <a:t> — Ball Point Game (vélocité)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0077B6"/>
                </a:solidFill>
              </a:rPr>
              <a:t>11h30</a:t>
            </a:r>
            <a:r>
              <a:rPr sz="2000">
                <a:solidFill>
                  <a:srgbClr val="333333"/>
                </a:solidFill>
              </a:rPr>
              <a:t> — Restaurant Kanban (flux, WIP, Lead Time)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0077B6"/>
                </a:solidFill>
              </a:rPr>
              <a:t>13h15</a:t>
            </a:r>
            <a:r>
              <a:rPr sz="2000">
                <a:solidFill>
                  <a:srgbClr val="333333"/>
                </a:solidFill>
              </a:rPr>
              <a:t> — Cours XP + Live Coding TDD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0077B6"/>
                </a:solidFill>
              </a:rPr>
              <a:t>13h55</a:t>
            </a:r>
            <a:r>
              <a:rPr sz="2000">
                <a:solidFill>
                  <a:srgbClr val="333333"/>
                </a:solidFill>
              </a:rPr>
              <a:t> — Pair Programming &amp; TDD (kata)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0077B6"/>
                </a:solidFill>
              </a:rPr>
              <a:t>14h45</a:t>
            </a:r>
            <a:r>
              <a:rPr sz="2000">
                <a:solidFill>
                  <a:srgbClr val="333333"/>
                </a:solidFill>
              </a:rPr>
              <a:t> — Refactoring Race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0077B6"/>
                </a:solidFill>
              </a:rPr>
              <a:t>15h45</a:t>
            </a:r>
            <a:r>
              <a:rPr sz="2000">
                <a:solidFill>
                  <a:srgbClr val="333333"/>
                </a:solidFill>
              </a:rPr>
              <a:t> — Sprint Review &amp; Rétrospective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0077B6"/>
                </a:solidFill>
              </a:rPr>
              <a:t>16h20</a:t>
            </a:r>
            <a:r>
              <a:rPr sz="2000">
                <a:solidFill>
                  <a:srgbClr val="333333"/>
                </a:solidFill>
              </a:rPr>
              <a:t> — Jeopardy Agile + Clôture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3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371600"/>
            <a:ext cx="121889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/>
              <a:t>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112745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Stand-Up Comedy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i="1">
                <a:solidFill>
                  <a:srgbClr val="90E0EF"/>
                </a:solidFill>
              </a:rPr>
              <a:t>09h00 – 09h15  |  Daily Stand-up revisité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3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🎤  Stand-Up Comedy — Règles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</a:rPr>
              <a:t>Debout en cercle, bâton de parole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0077B6"/>
                </a:solidFill>
              </a:rPr>
              <a:t>30 secondes</a:t>
            </a:r>
            <a:r>
              <a:rPr sz="2000">
                <a:solidFill>
                  <a:srgbClr val="333333"/>
                </a:solidFill>
              </a:rPr>
              <a:t> max par personne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</a:rPr>
              <a:t/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</a:rPr>
              <a:t>🟢  « La dernière fois j'ai appris que… »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</a:rPr>
              <a:t>🔵  « Aujourd'hui j'attends… »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</a:rPr>
              <a:t>🔴  « Mon obstacle c'est… 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5029200"/>
            <a:ext cx="8229600" cy="73152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C'est un vrai Daily Scrum — 15 min debout, 3 questions 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3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371600"/>
            <a:ext cx="121889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/>
              <a:t>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112745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User Stories &amp; Definition of Done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i="1">
                <a:solidFill>
                  <a:srgbClr val="90E0EF"/>
                </a:solidFill>
              </a:rPr>
              <a:t>09h15 – 09h45  |  Cours interactif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3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📝  Format d'une User Story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</a:rPr>
              <a:t>« </a:t>
            </a:r>
            <a:r>
              <a:rPr sz="2000" b="1">
                <a:solidFill>
                  <a:srgbClr val="0077B6"/>
                </a:solidFill>
              </a:rPr>
              <a:t>En tant que</a:t>
            </a:r>
            <a:r>
              <a:rPr sz="2000">
                <a:solidFill>
                  <a:srgbClr val="333333"/>
                </a:solidFill>
              </a:rPr>
              <a:t> [persona] »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</a:rPr>
              <a:t>« </a:t>
            </a:r>
            <a:r>
              <a:rPr sz="2000" b="1">
                <a:solidFill>
                  <a:srgbClr val="0077B6"/>
                </a:solidFill>
              </a:rPr>
              <a:t>je veux</a:t>
            </a:r>
            <a:r>
              <a:rPr sz="2000">
                <a:solidFill>
                  <a:srgbClr val="333333"/>
                </a:solidFill>
              </a:rPr>
              <a:t> [fonctionnalité] »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</a:rPr>
              <a:t>« </a:t>
            </a:r>
            <a:r>
              <a:rPr sz="2000" b="1">
                <a:solidFill>
                  <a:srgbClr val="0077B6"/>
                </a:solidFill>
              </a:rPr>
              <a:t>afin de</a:t>
            </a:r>
            <a:r>
              <a:rPr sz="2000">
                <a:solidFill>
                  <a:srgbClr val="333333"/>
                </a:solidFill>
              </a:rPr>
              <a:t> [bénéfice/valeur] »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</a:rPr>
              <a:t/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</a:rPr>
              <a:t>Exemple :</a:t>
            </a:r>
          </a:p>
          <a:p>
            <a:pPr lvl="1">
              <a:spcAft>
                <a:spcPts val="800"/>
              </a:spcAft>
            </a:pPr>
            <a:r>
              <a:rPr sz="1800" b="1">
                <a:solidFill>
                  <a:srgbClr val="0077B6"/>
                </a:solidFill>
              </a:rPr>
              <a:t>En tant qu'</a:t>
            </a:r>
            <a:r>
              <a:rPr sz="1800">
                <a:solidFill>
                  <a:srgbClr val="333333"/>
                </a:solidFill>
              </a:rPr>
              <a:t>étudiant, </a:t>
            </a:r>
            <a:r>
              <a:rPr sz="1800" b="1">
                <a:solidFill>
                  <a:srgbClr val="0077B6"/>
                </a:solidFill>
              </a:rPr>
              <a:t>je veux</a:t>
            </a:r>
            <a:r>
              <a:rPr sz="1800">
                <a:solidFill>
                  <a:srgbClr val="333333"/>
                </a:solidFill>
              </a:rPr>
              <a:t> consulter le menu de la cantine, </a:t>
            </a:r>
            <a:r>
              <a:rPr sz="1800" b="1">
                <a:solidFill>
                  <a:srgbClr val="0077B6"/>
                </a:solidFill>
              </a:rPr>
              <a:t>afin de</a:t>
            </a:r>
            <a:r>
              <a:rPr sz="1800">
                <a:solidFill>
                  <a:srgbClr val="333333"/>
                </a:solidFill>
              </a:rPr>
              <a:t> choisir mon repas avant d'y aller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5029200"/>
            <a:ext cx="8229600" cy="73152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Une US décrit un BESOIN utilisateur, pas une solution technique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3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✅  Critères INVEST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0077B6"/>
                </a:solidFill>
              </a:rPr>
              <a:t>I</a:t>
            </a:r>
            <a:r>
              <a:rPr sz="2000">
                <a:solidFill>
                  <a:srgbClr val="333333"/>
                </a:solidFill>
              </a:rPr>
              <a:t>ndependent — pas de dépendance entre US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0077B6"/>
                </a:solidFill>
              </a:rPr>
              <a:t>N</a:t>
            </a:r>
            <a:r>
              <a:rPr sz="2000">
                <a:solidFill>
                  <a:srgbClr val="333333"/>
                </a:solidFill>
              </a:rPr>
              <a:t>egotiable — discutable, pas gravée dans le marbre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0077B6"/>
                </a:solidFill>
              </a:rPr>
              <a:t>V</a:t>
            </a:r>
            <a:r>
              <a:rPr sz="2000">
                <a:solidFill>
                  <a:srgbClr val="333333"/>
                </a:solidFill>
              </a:rPr>
              <a:t>aluable — apporte de la valeur à l'utilisateur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0077B6"/>
                </a:solidFill>
              </a:rPr>
              <a:t>E</a:t>
            </a:r>
            <a:r>
              <a:rPr sz="2000">
                <a:solidFill>
                  <a:srgbClr val="333333"/>
                </a:solidFill>
              </a:rPr>
              <a:t>stimable — l'équipe peut estimer l'effort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0077B6"/>
                </a:solidFill>
              </a:rPr>
              <a:t>S</a:t>
            </a:r>
            <a:r>
              <a:rPr sz="2000">
                <a:solidFill>
                  <a:srgbClr val="333333"/>
                </a:solidFill>
              </a:rPr>
              <a:t>mall — réalisable en 1 sprint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0077B6"/>
                </a:solidFill>
              </a:rPr>
              <a:t>T</a:t>
            </a:r>
            <a:r>
              <a:rPr sz="2000">
                <a:solidFill>
                  <a:srgbClr val="333333"/>
                </a:solidFill>
              </a:rPr>
              <a:t>estable — on peut vérifier que c'est fait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3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🏁  Definition of Done (DoD)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</a:rPr>
              <a:t>Sans DoD, « </a:t>
            </a:r>
            <a:r>
              <a:rPr sz="2000" b="1">
                <a:solidFill>
                  <a:srgbClr val="0077B6"/>
                </a:solidFill>
              </a:rPr>
              <a:t>terminé</a:t>
            </a:r>
            <a:r>
              <a:rPr sz="2000">
                <a:solidFill>
                  <a:srgbClr val="333333"/>
                </a:solidFill>
              </a:rPr>
              <a:t> » ne veut rien dire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</a:rPr>
              <a:t/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</a:rPr>
              <a:t>Exemple de DoD :</a:t>
            </a:r>
          </a:p>
          <a:p>
            <a:pPr lvl="1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Code écrit + tests unitaires passent</a:t>
            </a:r>
          </a:p>
          <a:p>
            <a:pPr lvl="1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Code reviewé par un pair</a:t>
            </a:r>
          </a:p>
          <a:p>
            <a:pPr lvl="1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Documentation mise à jour</a:t>
            </a:r>
          </a:p>
          <a:p>
            <a:pPr lvl="1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Déployé en environnement de recette</a:t>
            </a:r>
          </a:p>
          <a:p>
            <a:pPr lvl="1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Critères d'acceptation validés par le PO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</a:rPr>
              <a:t/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0077B6"/>
                </a:solidFill>
              </a:rPr>
              <a:t>DoD</a:t>
            </a:r>
            <a:r>
              <a:rPr sz="2000">
                <a:solidFill>
                  <a:srgbClr val="333333"/>
                </a:solidFill>
              </a:rPr>
              <a:t> = checklist commune à TOUTES les US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0077B6"/>
                </a:solidFill>
              </a:rPr>
              <a:t>Critères d'acceptation</a:t>
            </a:r>
            <a:r>
              <a:rPr sz="2000">
                <a:solidFill>
                  <a:srgbClr val="333333"/>
                </a:solidFill>
              </a:rPr>
              <a:t> = spécifiques à UNE US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3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371600"/>
            <a:ext cx="121889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/>
              <a:t>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112745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Atelier US + Priorisation + Chiffrage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i="1">
                <a:solidFill>
                  <a:srgbClr val="90E0EF"/>
                </a:solidFill>
              </a:rPr>
              <a:t>09h45 – 10h30  |  Pizza Campus 🍕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3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🍕  Brief — Application Pizza Campus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</a:rPr>
              <a:t>Contexte : app de commande de pizzas pour le campus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</a:rPr>
              <a:t/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0077B6"/>
                </a:solidFill>
              </a:rPr>
              <a:t>Étape 1</a:t>
            </a:r>
            <a:r>
              <a:rPr sz="2000">
                <a:solidFill>
                  <a:srgbClr val="333333"/>
                </a:solidFill>
              </a:rPr>
              <a:t> — Rédiger </a:t>
            </a:r>
            <a:r>
              <a:rPr sz="2000" b="1">
                <a:solidFill>
                  <a:srgbClr val="0077B6"/>
                </a:solidFill>
              </a:rPr>
              <a:t>8-10 User Stories</a:t>
            </a:r>
            <a:r>
              <a:rPr sz="2000">
                <a:solidFill>
                  <a:srgbClr val="333333"/>
                </a:solidFill>
              </a:rPr>
              <a:t> (15 min)</a:t>
            </a:r>
          </a:p>
          <a:p>
            <a:pPr lvl="1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Identifier les personas d'abord (étudiant, pizzaïolo, admin…)</a:t>
            </a:r>
          </a:p>
          <a:p>
            <a:pPr lvl="1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Format : En tant que… je veux… afin de…</a:t>
            </a:r>
          </a:p>
          <a:p>
            <a:pPr lvl="1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Sur post-its, 1 US par post-it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</a:rPr>
              <a:t/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0077B6"/>
                </a:solidFill>
              </a:rPr>
              <a:t>Étape 2</a:t>
            </a:r>
            <a:r>
              <a:rPr sz="2000">
                <a:solidFill>
                  <a:srgbClr val="333333"/>
                </a:solidFill>
              </a:rPr>
              <a:t> — Priorisation </a:t>
            </a:r>
            <a:r>
              <a:rPr sz="2000" b="1">
                <a:solidFill>
                  <a:srgbClr val="0077B6"/>
                </a:solidFill>
              </a:rPr>
              <a:t>MoSCoW</a:t>
            </a:r>
            <a:r>
              <a:rPr sz="2000">
                <a:solidFill>
                  <a:srgbClr val="333333"/>
                </a:solidFill>
              </a:rPr>
              <a:t> (5 min)</a:t>
            </a:r>
          </a:p>
          <a:p>
            <a:pPr lvl="1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🔴 Must  |  🟡 Should  |  🟢 Could  |  ⚪ Won't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</a:rPr>
              <a:t/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0077B6"/>
                </a:solidFill>
              </a:rPr>
              <a:t>Étape 3</a:t>
            </a:r>
            <a:r>
              <a:rPr sz="2000">
                <a:solidFill>
                  <a:srgbClr val="333333"/>
                </a:solidFill>
              </a:rPr>
              <a:t> — </a:t>
            </a:r>
            <a:r>
              <a:rPr sz="2000" b="1">
                <a:solidFill>
                  <a:srgbClr val="0077B6"/>
                </a:solidFill>
              </a:rPr>
              <a:t>Planning Poker</a:t>
            </a:r>
            <a:r>
              <a:rPr sz="2000">
                <a:solidFill>
                  <a:srgbClr val="333333"/>
                </a:solidFill>
              </a:rPr>
              <a:t> sur les Must (15 min)</a:t>
            </a:r>
          </a:p>
          <a:p>
            <a:pPr lvl="1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Fibonacci : 1, 2, 3, 5, 8, 13, 21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3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371600"/>
            <a:ext cx="121889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/>
              <a:t>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112745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Ball Point Game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i="1">
                <a:solidFill>
                  <a:srgbClr val="90E0EF"/>
                </a:solidFill>
              </a:rPr>
              <a:t>10h45 – 11h30  |  Vélocité &amp; Estimation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3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🏐  Ball Point Game — Règles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</a:rPr>
              <a:t>Toute la classe en cercle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</a:rPr>
              <a:t>Chaque balle doit passer par </a:t>
            </a:r>
            <a:r>
              <a:rPr sz="2000" b="1">
                <a:solidFill>
                  <a:srgbClr val="0077B6"/>
                </a:solidFill>
              </a:rPr>
              <a:t>toutes les mains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</a:rPr>
              <a:t>Pas de passage au </a:t>
            </a:r>
            <a:r>
              <a:rPr sz="2000" b="1">
                <a:solidFill>
                  <a:srgbClr val="0077B6"/>
                </a:solidFill>
              </a:rPr>
              <a:t>voisin direct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</a:rPr>
              <a:t>Balle qui tombe = </a:t>
            </a:r>
            <a:r>
              <a:rPr sz="2000" b="1">
                <a:solidFill>
                  <a:srgbClr val="0077B6"/>
                </a:solidFill>
              </a:rPr>
              <a:t>-1 point</a:t>
            </a:r>
            <a:r>
              <a:rPr sz="2000">
                <a:solidFill>
                  <a:srgbClr val="333333"/>
                </a:solidFill>
              </a:rPr>
              <a:t>  |  Balle complétée = </a:t>
            </a:r>
            <a:r>
              <a:rPr sz="2000" b="1">
                <a:solidFill>
                  <a:srgbClr val="0077B6"/>
                </a:solidFill>
              </a:rPr>
              <a:t>+1 point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</a:rPr>
              <a:t/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0077B6"/>
                </a:solidFill>
              </a:rPr>
              <a:t>5 sprints de 2 min</a:t>
            </a:r>
            <a:r>
              <a:rPr sz="2000">
                <a:solidFill>
                  <a:srgbClr val="333333"/>
                </a:solidFill>
              </a:rPr>
              <a:t> avec estimation + rétro entre chaque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</a:rPr>
              <a:t/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</a:rPr>
              <a:t>Avant chaque sprint : </a:t>
            </a:r>
            <a:r>
              <a:rPr sz="2000" b="1">
                <a:solidFill>
                  <a:srgbClr val="0077B6"/>
                </a:solidFill>
              </a:rPr>
              <a:t>« Combien de balles pensez-vous réussir ? 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5029200"/>
            <a:ext cx="8229600" cy="73152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Estimation → Exécution → Mesure → Rétro → Amélioration = le cycle Agile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3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📈  Ball Point Game — Débrief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0077B6"/>
                </a:solidFill>
              </a:rPr>
              <a:t>Vélocité</a:t>
            </a:r>
            <a:r>
              <a:rPr sz="2000">
                <a:solidFill>
                  <a:srgbClr val="333333"/>
                </a:solidFill>
              </a:rPr>
              <a:t> = nombre de points réalisés par sprint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0077B6"/>
                </a:solidFill>
              </a:rPr>
              <a:t>Estimation</a:t>
            </a:r>
            <a:r>
              <a:rPr sz="2000">
                <a:solidFill>
                  <a:srgbClr val="333333"/>
                </a:solidFill>
              </a:rPr>
              <a:t> = prédiction avant le sprint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</a:rPr>
              <a:t/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</a:rPr>
              <a:t>On trace la </a:t>
            </a:r>
            <a:r>
              <a:rPr sz="2000" b="1">
                <a:solidFill>
                  <a:srgbClr val="0077B6"/>
                </a:solidFill>
              </a:rPr>
              <a:t>courbe de vélocité</a:t>
            </a:r>
            <a:r>
              <a:rPr sz="2000">
                <a:solidFill>
                  <a:srgbClr val="333333"/>
                </a:solidFill>
              </a:rPr>
              <a:t> sprint après sprint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</a:rPr>
              <a:t>→ la vélocité se </a:t>
            </a:r>
            <a:r>
              <a:rPr sz="2000" b="1">
                <a:solidFill>
                  <a:srgbClr val="0077B6"/>
                </a:solidFill>
              </a:rPr>
              <a:t>stabilise</a:t>
            </a:r>
            <a:r>
              <a:rPr sz="2000">
                <a:solidFill>
                  <a:srgbClr val="333333"/>
                </a:solidFill>
              </a:rPr>
              <a:t> après 2-3 sprints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</a:rPr>
              <a:t>→ on peut </a:t>
            </a:r>
            <a:r>
              <a:rPr sz="2000" b="1">
                <a:solidFill>
                  <a:srgbClr val="0077B6"/>
                </a:solidFill>
              </a:rPr>
              <a:t>prédire</a:t>
            </a:r>
            <a:r>
              <a:rPr sz="2000">
                <a:solidFill>
                  <a:srgbClr val="333333"/>
                </a:solidFill>
              </a:rPr>
              <a:t> le sprint suivant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</a:rPr>
              <a:t/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0077B6"/>
                </a:solidFill>
              </a:rPr>
              <a:t>Burn-up chart</a:t>
            </a:r>
            <a:r>
              <a:rPr sz="2000">
                <a:solidFill>
                  <a:srgbClr val="333333"/>
                </a:solidFill>
              </a:rPr>
              <a:t> = cumul des points sprint après sprint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</a:rPr>
              <a:t>→ visualise la progression vers l'objectif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3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371600"/>
            <a:ext cx="121889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/>
              <a:t>🍽️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112745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Kanban — Le Restaurant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i="1">
                <a:solidFill>
                  <a:srgbClr val="90E0EF"/>
                </a:solidFill>
              </a:rPr>
              <a:t>11h30 – 12h15  |  Simulation physique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3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🍽️  L'analogie Restaurant →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077B6"/>
                </a:solidFill>
              </a:rPr>
              <a:t>🍽️ Restaurant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64592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077B6"/>
                </a:solidFill>
              </a:rPr>
              <a:t>📊 Kanban / Projet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Les commandes clients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La cuisine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Commande → Prépa → Cuisson → Dressage → Service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Le nombre de feux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Temps commande → service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Trop de commandes en même temps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01168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Les tickets / tâches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Le workflow de développement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Backlog → Analyse → Dev → Test → Done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La </a:t>
            </a:r>
            <a:r>
              <a:rPr sz="1800" b="1">
                <a:solidFill>
                  <a:srgbClr val="0077B6"/>
                </a:solidFill>
              </a:rPr>
              <a:t>limite WIP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Le </a:t>
            </a:r>
            <a:r>
              <a:rPr sz="1800" b="1">
                <a:solidFill>
                  <a:srgbClr val="0077B6"/>
                </a:solidFill>
              </a:rPr>
              <a:t>Lead Time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077B6"/>
                </a:solidFill>
              </a:rPr>
              <a:t>Pas de limite WIP</a:t>
            </a:r>
            <a:r>
              <a:rPr sz="1800">
                <a:solidFill>
                  <a:srgbClr val="333333"/>
                </a:solidFill>
              </a:rPr>
              <a:t> → chaos !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3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📊  Les 5 principes Kanban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</a:rPr>
              <a:t>1. </a:t>
            </a:r>
            <a:r>
              <a:rPr sz="2000" b="1">
                <a:solidFill>
                  <a:srgbClr val="0077B6"/>
                </a:solidFill>
              </a:rPr>
              <a:t>Visualiser</a:t>
            </a:r>
            <a:r>
              <a:rPr sz="2000">
                <a:solidFill>
                  <a:srgbClr val="333333"/>
                </a:solidFill>
              </a:rPr>
              <a:t> le flux de travail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</a:rPr>
              <a:t>2. </a:t>
            </a:r>
            <a:r>
              <a:rPr sz="2000" b="1">
                <a:solidFill>
                  <a:srgbClr val="0077B6"/>
                </a:solidFill>
              </a:rPr>
              <a:t>Limiter</a:t>
            </a:r>
            <a:r>
              <a:rPr sz="2000">
                <a:solidFill>
                  <a:srgbClr val="333333"/>
                </a:solidFill>
              </a:rPr>
              <a:t> le travail en cours (WIP)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</a:rPr>
              <a:t>3. </a:t>
            </a:r>
            <a:r>
              <a:rPr sz="2000" b="1">
                <a:solidFill>
                  <a:srgbClr val="0077B6"/>
                </a:solidFill>
              </a:rPr>
              <a:t>Gérer</a:t>
            </a:r>
            <a:r>
              <a:rPr sz="2000">
                <a:solidFill>
                  <a:srgbClr val="333333"/>
                </a:solidFill>
              </a:rPr>
              <a:t> le flux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</a:rPr>
              <a:t>4. </a:t>
            </a:r>
            <a:r>
              <a:rPr sz="2000" b="1">
                <a:solidFill>
                  <a:srgbClr val="0077B6"/>
                </a:solidFill>
              </a:rPr>
              <a:t>Rendre explicites</a:t>
            </a:r>
            <a:r>
              <a:rPr sz="2000">
                <a:solidFill>
                  <a:srgbClr val="333333"/>
                </a:solidFill>
              </a:rPr>
              <a:t> les règles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</a:rPr>
              <a:t>5. </a:t>
            </a:r>
            <a:r>
              <a:rPr sz="2000" b="1">
                <a:solidFill>
                  <a:srgbClr val="0077B6"/>
                </a:solidFill>
              </a:rPr>
              <a:t>Améliorer</a:t>
            </a:r>
            <a:r>
              <a:rPr sz="2000">
                <a:solidFill>
                  <a:srgbClr val="333333"/>
                </a:solidFill>
              </a:rPr>
              <a:t> de manière collaborative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5029200"/>
            <a:ext cx="8229600" cy="73152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« Stop starting, start finishing. »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3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🍽️  Simulation — Le Menu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</a:rPr>
              <a:t>🍔  </a:t>
            </a:r>
            <a:r>
              <a:rPr sz="2000" b="1">
                <a:solidFill>
                  <a:srgbClr val="0077B6"/>
                </a:solidFill>
              </a:rPr>
              <a:t>Burger simple</a:t>
            </a:r>
            <a:r>
              <a:rPr sz="2000">
                <a:solidFill>
                  <a:srgbClr val="333333"/>
                </a:solidFill>
              </a:rPr>
              <a:t> — 1 étoile — 3 ingrédients à dessiner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</a:rPr>
              <a:t>🍕  </a:t>
            </a:r>
            <a:r>
              <a:rPr sz="2000" b="1">
                <a:solidFill>
                  <a:srgbClr val="0077B6"/>
                </a:solidFill>
              </a:rPr>
              <a:t>Pizza</a:t>
            </a:r>
            <a:r>
              <a:rPr sz="2000">
                <a:solidFill>
                  <a:srgbClr val="333333"/>
                </a:solidFill>
              </a:rPr>
              <a:t> — 2 étoiles — 5 ingrédients à dessiner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</a:rPr>
              <a:t>🥘  </a:t>
            </a:r>
            <a:r>
              <a:rPr sz="2000" b="1">
                <a:solidFill>
                  <a:srgbClr val="0077B6"/>
                </a:solidFill>
              </a:rPr>
              <a:t>Plat gastronomique</a:t>
            </a:r>
            <a:r>
              <a:rPr sz="2000">
                <a:solidFill>
                  <a:srgbClr val="333333"/>
                </a:solidFill>
              </a:rPr>
              <a:t> — 3 étoiles — 8 ingrédients à dessiner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</a:rPr>
              <a:t/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0077B6"/>
                </a:solidFill>
              </a:rPr>
              <a:t>Round 1</a:t>
            </a:r>
            <a:r>
              <a:rPr sz="2000">
                <a:solidFill>
                  <a:srgbClr val="333333"/>
                </a:solidFill>
              </a:rPr>
              <a:t> : PAS de limite WIP → chaos garanti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0077B6"/>
                </a:solidFill>
              </a:rPr>
              <a:t>Round 2</a:t>
            </a:r>
            <a:r>
              <a:rPr sz="2000">
                <a:solidFill>
                  <a:srgbClr val="333333"/>
                </a:solidFill>
              </a:rPr>
              <a:t> : Limite WIP = 2 par poste → flux tiré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</a:rPr>
              <a:t/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</a:rPr>
              <a:t>Chaque cuisinier </a:t>
            </a:r>
            <a:r>
              <a:rPr sz="2000" b="1">
                <a:solidFill>
                  <a:srgbClr val="0077B6"/>
                </a:solidFill>
              </a:rPr>
              <a:t>annonce à voix haute</a:t>
            </a:r>
            <a:r>
              <a:rPr sz="2000">
                <a:solidFill>
                  <a:srgbClr val="333333"/>
                </a:solidFill>
              </a:rPr>
              <a:t> le ticket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</a:rPr>
              <a:t>Le Maître d'hôtel fait un </a:t>
            </a:r>
            <a:r>
              <a:rPr sz="2000" b="1">
                <a:solidFill>
                  <a:srgbClr val="0077B6"/>
                </a:solidFill>
              </a:rPr>
              <a:t>SNAPSHOT</a:t>
            </a:r>
            <a:r>
              <a:rPr sz="2000">
                <a:solidFill>
                  <a:srgbClr val="333333"/>
                </a:solidFill>
              </a:rPr>
              <a:t> chaque minute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3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📈  Kanban — Métriques clés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0077B6"/>
                </a:solidFill>
              </a:rPr>
              <a:t>Lead Time</a:t>
            </a:r>
            <a:r>
              <a:rPr sz="2000">
                <a:solidFill>
                  <a:srgbClr val="333333"/>
                </a:solidFill>
              </a:rPr>
              <a:t> — temps total du début à la fin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0077B6"/>
                </a:solidFill>
              </a:rPr>
              <a:t>Cycle Time</a:t>
            </a:r>
            <a:r>
              <a:rPr sz="2000">
                <a:solidFill>
                  <a:srgbClr val="333333"/>
                </a:solidFill>
              </a:rPr>
              <a:t> — temps en traitement actif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0077B6"/>
                </a:solidFill>
              </a:rPr>
              <a:t>Throughput</a:t>
            </a:r>
            <a:r>
              <a:rPr sz="2000">
                <a:solidFill>
                  <a:srgbClr val="333333"/>
                </a:solidFill>
              </a:rPr>
              <a:t> — nombre d'items terminés par unité de temps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0077B6"/>
                </a:solidFill>
              </a:rPr>
              <a:t>Cumulative Flow Diagram</a:t>
            </a:r>
            <a:r>
              <a:rPr sz="2000">
                <a:solidFill>
                  <a:srgbClr val="333333"/>
                </a:solidFill>
              </a:rPr>
              <a:t> — aires empilées montrant les encours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</a:rPr>
              <a:t/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</a:rPr>
              <a:t>Round 1 vs Round 2 :</a:t>
            </a:r>
          </a:p>
          <a:p>
            <a:pPr lvl="1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Throughput ≈ pareil (le goulot ne change pas !)</a:t>
            </a:r>
          </a:p>
          <a:p>
            <a:pPr lvl="1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Lead Time bien meilleur en R2</a:t>
            </a:r>
          </a:p>
          <a:p>
            <a:pPr lvl="1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Moins de stress, moins d'erreurs</a:t>
            </a:r>
          </a:p>
          <a:p>
            <a:pPr lvl="1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Board Kanban fiable en R2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5029200"/>
            <a:ext cx="8229600" cy="73152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Kanban ne supprime pas l'attente — il la rend visible et honnête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3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371600"/>
            <a:ext cx="121889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/>
              <a:t>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112745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Extreme Programming (XP)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i="1">
                <a:solidFill>
                  <a:srgbClr val="90E0EF"/>
                </a:solidFill>
              </a:rPr>
              <a:t>13h15 – 13h55  |  Cours + Live Coding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3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💻  XP — Les 5 valeurs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</a:rPr>
              <a:t>💬  </a:t>
            </a:r>
            <a:r>
              <a:rPr sz="2000" b="1">
                <a:solidFill>
                  <a:srgbClr val="0077B6"/>
                </a:solidFill>
              </a:rPr>
              <a:t>Communication</a:t>
            </a:r>
            <a:r>
              <a:rPr sz="2000">
                <a:solidFill>
                  <a:srgbClr val="333333"/>
                </a:solidFill>
              </a:rPr>
              <a:t> — parler, pas documenter en silo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</a:rPr>
              <a:t>🎯  </a:t>
            </a:r>
            <a:r>
              <a:rPr sz="2000" b="1">
                <a:solidFill>
                  <a:srgbClr val="0077B6"/>
                </a:solidFill>
              </a:rPr>
              <a:t>Simplicité</a:t>
            </a:r>
            <a:r>
              <a:rPr sz="2000">
                <a:solidFill>
                  <a:srgbClr val="333333"/>
                </a:solidFill>
              </a:rPr>
              <a:t> — faire le plus simple qui fonctionne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</a:rPr>
              <a:t>🔄  </a:t>
            </a:r>
            <a:r>
              <a:rPr sz="2000" b="1">
                <a:solidFill>
                  <a:srgbClr val="0077B6"/>
                </a:solidFill>
              </a:rPr>
              <a:t>Feedback</a:t>
            </a:r>
            <a:r>
              <a:rPr sz="2000">
                <a:solidFill>
                  <a:srgbClr val="333333"/>
                </a:solidFill>
              </a:rPr>
              <a:t> — boucles courtes, apprendre vite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</a:rPr>
              <a:t>💪  </a:t>
            </a:r>
            <a:r>
              <a:rPr sz="2000" b="1">
                <a:solidFill>
                  <a:srgbClr val="0077B6"/>
                </a:solidFill>
              </a:rPr>
              <a:t>Courage</a:t>
            </a:r>
            <a:r>
              <a:rPr sz="2000">
                <a:solidFill>
                  <a:srgbClr val="333333"/>
                </a:solidFill>
              </a:rPr>
              <a:t> — refactorer, jeter, dire non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</a:rPr>
              <a:t>🤝  </a:t>
            </a:r>
            <a:r>
              <a:rPr sz="2000" b="1">
                <a:solidFill>
                  <a:srgbClr val="0077B6"/>
                </a:solidFill>
              </a:rPr>
              <a:t>Respect</a:t>
            </a:r>
            <a:r>
              <a:rPr sz="2000">
                <a:solidFill>
                  <a:srgbClr val="333333"/>
                </a:solidFill>
              </a:rPr>
              <a:t> — confiance mutuelle dans l'équipe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3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🧰  XP — Les pratiques clés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👥  </a:t>
            </a:r>
            <a:r>
              <a:rPr sz="1800" b="1">
                <a:solidFill>
                  <a:srgbClr val="0077B6"/>
                </a:solidFill>
              </a:rPr>
              <a:t>Pair Programming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→ Pilote + Navigateur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→ 2 cerveaux &gt; 1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/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🧪  </a:t>
            </a:r>
            <a:r>
              <a:rPr sz="1800" b="1">
                <a:solidFill>
                  <a:srgbClr val="0077B6"/>
                </a:solidFill>
              </a:rPr>
              <a:t>TDD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→ Red → Green → Refactor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→ Le test AVANT le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8288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🔄  </a:t>
            </a:r>
            <a:r>
              <a:rPr sz="1800" b="1">
                <a:solidFill>
                  <a:srgbClr val="0077B6"/>
                </a:solidFill>
              </a:rPr>
              <a:t>Intégration Continue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→ Commit souvent, testez toujours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/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🧹  </a:t>
            </a:r>
            <a:r>
              <a:rPr sz="1800" b="1">
                <a:solidFill>
                  <a:srgbClr val="0077B6"/>
                </a:solidFill>
              </a:rPr>
              <a:t>Refactoring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→ Améliorer sans changer le comportement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/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📋  </a:t>
            </a:r>
            <a:r>
              <a:rPr sz="1800" b="1">
                <a:solidFill>
                  <a:srgbClr val="0077B6"/>
                </a:solidFill>
              </a:rPr>
              <a:t>Planning Game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→ Estimation collective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3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🧪  TDD — Le cycle Red-Green-Refactor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</a:rPr>
              <a:t>🔴  </a:t>
            </a:r>
            <a:r>
              <a:rPr sz="2000" b="1">
                <a:solidFill>
                  <a:srgbClr val="0077B6"/>
                </a:solidFill>
              </a:rPr>
              <a:t>RED</a:t>
            </a:r>
            <a:r>
              <a:rPr sz="2000">
                <a:solidFill>
                  <a:srgbClr val="333333"/>
                </a:solidFill>
              </a:rPr>
              <a:t> — Écrire un test qui ÉCHOUE</a:t>
            </a:r>
          </a:p>
          <a:p>
            <a:pPr lvl="1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Le test décrit le comportement attendu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</a:rPr>
              <a:t/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</a:rPr>
              <a:t>🟢  </a:t>
            </a:r>
            <a:r>
              <a:rPr sz="2000" b="1">
                <a:solidFill>
                  <a:srgbClr val="0077B6"/>
                </a:solidFill>
              </a:rPr>
              <a:t>GREEN</a:t>
            </a:r>
            <a:r>
              <a:rPr sz="2000">
                <a:solidFill>
                  <a:srgbClr val="333333"/>
                </a:solidFill>
              </a:rPr>
              <a:t> — Écrire le code MINIMUM pour faire passer le test</a:t>
            </a:r>
          </a:p>
          <a:p>
            <a:pPr lvl="1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Pas d'optimisation, pas de gold-plating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</a:rPr>
              <a:t/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</a:rPr>
              <a:t>🔵  </a:t>
            </a:r>
            <a:r>
              <a:rPr sz="2000" b="1">
                <a:solidFill>
                  <a:srgbClr val="0077B6"/>
                </a:solidFill>
              </a:rPr>
              <a:t>REFACTOR</a:t>
            </a:r>
            <a:r>
              <a:rPr sz="2000">
                <a:solidFill>
                  <a:srgbClr val="333333"/>
                </a:solidFill>
              </a:rPr>
              <a:t> — Améliorer le code SANS casser les tests</a:t>
            </a:r>
          </a:p>
          <a:p>
            <a:pPr lvl="1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Nommage, extraction de fonctions, simplification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</a:rPr>
              <a:t/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</a:rPr>
              <a:t>→ Recommencer avec le prochain test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5029200"/>
            <a:ext cx="8229600" cy="73152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Live Coding : kata FizzBuzz en TDD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3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371600"/>
            <a:ext cx="121889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/>
              <a:t>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112745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Pair Programming &amp; TDD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i="1">
                <a:solidFill>
                  <a:srgbClr val="90E0EF"/>
                </a:solidFill>
              </a:rPr>
              <a:t>13h55 – 14h45  |  Kata Roman Numerals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3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🏓  Ping-Pong TDD — Règles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</a:rPr>
              <a:t>En </a:t>
            </a:r>
            <a:r>
              <a:rPr sz="2000" b="1">
                <a:solidFill>
                  <a:srgbClr val="0077B6"/>
                </a:solidFill>
              </a:rPr>
              <a:t>binômes</a:t>
            </a:r>
            <a:r>
              <a:rPr sz="2000">
                <a:solidFill>
                  <a:srgbClr val="333333"/>
                </a:solidFill>
              </a:rPr>
              <a:t> (tirage au sort)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</a:rPr>
              <a:t/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</a:rPr>
              <a:t>🏓  Joueur A écrit un </a:t>
            </a:r>
            <a:r>
              <a:rPr sz="2000" b="1">
                <a:solidFill>
                  <a:srgbClr val="0077B6"/>
                </a:solidFill>
              </a:rPr>
              <a:t>test qui échoue</a:t>
            </a:r>
            <a:r>
              <a:rPr sz="2000">
                <a:solidFill>
                  <a:srgbClr val="333333"/>
                </a:solidFill>
              </a:rPr>
              <a:t> (RED)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</a:rPr>
              <a:t>🏓  Joueur B écrit le </a:t>
            </a:r>
            <a:r>
              <a:rPr sz="2000" b="1">
                <a:solidFill>
                  <a:srgbClr val="0077B6"/>
                </a:solidFill>
              </a:rPr>
              <a:t>code minimum</a:t>
            </a:r>
            <a:r>
              <a:rPr sz="2000">
                <a:solidFill>
                  <a:srgbClr val="333333"/>
                </a:solidFill>
              </a:rPr>
              <a:t> pour le faire passer (GREEN)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</a:rPr>
              <a:t>🏓  Joueur B écrit le </a:t>
            </a:r>
            <a:r>
              <a:rPr sz="2000" b="1">
                <a:solidFill>
                  <a:srgbClr val="0077B6"/>
                </a:solidFill>
              </a:rPr>
              <a:t>prochain test</a:t>
            </a:r>
            <a:r>
              <a:rPr sz="2000">
                <a:solidFill>
                  <a:srgbClr val="333333"/>
                </a:solidFill>
              </a:rPr>
              <a:t> qui échoue (RED)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</a:rPr>
              <a:t>🏓  Joueur A écrit le </a:t>
            </a:r>
            <a:r>
              <a:rPr sz="2000" b="1">
                <a:solidFill>
                  <a:srgbClr val="0077B6"/>
                </a:solidFill>
              </a:rPr>
              <a:t>code</a:t>
            </a:r>
            <a:r>
              <a:rPr sz="2000">
                <a:solidFill>
                  <a:srgbClr val="333333"/>
                </a:solidFill>
              </a:rPr>
              <a:t> pour le faire passer (GREEN)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</a:rPr>
              <a:t/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</a:rPr>
              <a:t>Rotation toutes les </a:t>
            </a:r>
            <a:r>
              <a:rPr sz="2000" b="1">
                <a:solidFill>
                  <a:srgbClr val="0077B6"/>
                </a:solidFill>
              </a:rPr>
              <a:t>2-3 minutes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</a:rPr>
              <a:t/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</a:rPr>
              <a:t>Progression : 1→I, 2→II, 3→III, 4→IV, 5→V, 9→IX, 10→X…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3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371600"/>
            <a:ext cx="121889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/>
              <a:t>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112745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Refactoring 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i="1">
                <a:solidFill>
                  <a:srgbClr val="90E0EF"/>
                </a:solidFill>
              </a:rPr>
              <a:t>14h45 – 15h30  |  Compétition chronométrée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3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🏁  Refactoring Race — Règles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</a:rPr>
              <a:t>Même </a:t>
            </a:r>
            <a:r>
              <a:rPr sz="2000" b="1">
                <a:solidFill>
                  <a:srgbClr val="0077B6"/>
                </a:solidFill>
              </a:rPr>
              <a:t>code spaghetti</a:t>
            </a:r>
            <a:r>
              <a:rPr sz="2000">
                <a:solidFill>
                  <a:srgbClr val="333333"/>
                </a:solidFill>
              </a:rPr>
              <a:t> pour toutes les équipes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0077B6"/>
                </a:solidFill>
              </a:rPr>
              <a:t>20 minutes</a:t>
            </a:r>
            <a:r>
              <a:rPr sz="2000">
                <a:solidFill>
                  <a:srgbClr val="333333"/>
                </a:solidFill>
              </a:rPr>
              <a:t> chrono — musique de fond 🎵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</a:rPr>
              <a:t>Objectif : refactorer </a:t>
            </a:r>
            <a:r>
              <a:rPr sz="2000" b="1">
                <a:solidFill>
                  <a:srgbClr val="0077B6"/>
                </a:solidFill>
              </a:rPr>
              <a:t>sans casser les tests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</a:rPr>
              <a:t/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0077B6"/>
                </a:solidFill>
              </a:rPr>
              <a:t>Scoring :</a:t>
            </a:r>
          </a:p>
          <a:p>
            <a:pPr lvl="1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✅  Tests passent toujours : </a:t>
            </a:r>
            <a:r>
              <a:rPr sz="1800" b="1">
                <a:solidFill>
                  <a:srgbClr val="0077B6"/>
                </a:solidFill>
              </a:rPr>
              <a:t>+10 pts</a:t>
            </a:r>
          </a:p>
          <a:p>
            <a:pPr lvl="1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📝  Nommage clair : </a:t>
            </a:r>
            <a:r>
              <a:rPr sz="1800" b="1">
                <a:solidFill>
                  <a:srgbClr val="0077B6"/>
                </a:solidFill>
              </a:rPr>
              <a:t>+5 pts</a:t>
            </a:r>
          </a:p>
          <a:p>
            <a:pPr lvl="1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🧩  Fonctions &lt; 20 lignes : </a:t>
            </a:r>
            <a:r>
              <a:rPr sz="1800" b="1">
                <a:solidFill>
                  <a:srgbClr val="0077B6"/>
                </a:solidFill>
              </a:rPr>
              <a:t>+5 pts</a:t>
            </a:r>
          </a:p>
          <a:p>
            <a:pPr lvl="1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🔁  Pas de duplication : </a:t>
            </a:r>
            <a:r>
              <a:rPr sz="1800" b="1">
                <a:solidFill>
                  <a:srgbClr val="0077B6"/>
                </a:solidFill>
              </a:rPr>
              <a:t>+5 pts</a:t>
            </a:r>
          </a:p>
          <a:p>
            <a:pPr lvl="1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🧪  Nouveaux tests : </a:t>
            </a:r>
            <a:r>
              <a:rPr sz="1800" b="1">
                <a:solidFill>
                  <a:srgbClr val="0077B6"/>
                </a:solidFill>
              </a:rPr>
              <a:t>+3 pts/test</a:t>
            </a:r>
          </a:p>
          <a:p>
            <a:pPr lvl="1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💡  SOLID : </a:t>
            </a:r>
            <a:r>
              <a:rPr sz="1800" b="1">
                <a:solidFill>
                  <a:srgbClr val="0077B6"/>
                </a:solidFill>
              </a:rPr>
              <a:t>+5 pts bonus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3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371600"/>
            <a:ext cx="121889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/>
              <a:t>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112745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Sprint Review &amp; Rétrospective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i="1">
                <a:solidFill>
                  <a:srgbClr val="90E0EF"/>
                </a:solidFill>
              </a:rPr>
              <a:t>15h45 – 16h20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3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🎬  Sprint Review — Théorie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0077B6"/>
                </a:solidFill>
              </a:rPr>
              <a:t>Quoi ?</a:t>
            </a:r>
            <a:r>
              <a:rPr sz="2000">
                <a:solidFill>
                  <a:srgbClr val="333333"/>
                </a:solidFill>
              </a:rPr>
              <a:t> Démo de l'incrément aux stakeholders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0077B6"/>
                </a:solidFill>
              </a:rPr>
              <a:t>Qui ?</a:t>
            </a:r>
            <a:r>
              <a:rPr sz="2000">
                <a:solidFill>
                  <a:srgbClr val="333333"/>
                </a:solidFill>
              </a:rPr>
              <a:t> Équipe + PO + parties prenantes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0077B6"/>
                </a:solidFill>
              </a:rPr>
              <a:t>Quand ?</a:t>
            </a:r>
            <a:r>
              <a:rPr sz="2000">
                <a:solidFill>
                  <a:srgbClr val="333333"/>
                </a:solidFill>
              </a:rPr>
              <a:t> Fin de chaque sprint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0077B6"/>
                </a:solidFill>
              </a:rPr>
              <a:t>Résultat ?</a:t>
            </a:r>
            <a:r>
              <a:rPr sz="2000">
                <a:solidFill>
                  <a:srgbClr val="333333"/>
                </a:solidFill>
              </a:rPr>
              <a:t> Feedback → adaptation du Product Backlog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</a:rPr>
              <a:t/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</a:rPr>
              <a:t>Rappel Kapla : « Les démos entre les sprints = des Sprint Reviews ! 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5029200"/>
            <a:ext cx="8229600" cy="73152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Review = inspecter le PRODUIT  |  Rétro = inspecter le PROCESSUS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3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⭐  Rétrospective — Étoile de 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</a:rPr>
              <a:t>5 branches :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</a:rPr>
              <a:t/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</a:rPr>
              <a:t>▶️  </a:t>
            </a:r>
            <a:r>
              <a:rPr sz="2000" b="1">
                <a:solidFill>
                  <a:srgbClr val="0077B6"/>
                </a:solidFill>
              </a:rPr>
              <a:t>Continuer</a:t>
            </a:r>
            <a:r>
              <a:rPr sz="2000">
                <a:solidFill>
                  <a:srgbClr val="333333"/>
                </a:solidFill>
              </a:rPr>
              <a:t> — ce qui a bien fonctionné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</a:rPr>
              <a:t>➕  </a:t>
            </a:r>
            <a:r>
              <a:rPr sz="2000" b="1">
                <a:solidFill>
                  <a:srgbClr val="0077B6"/>
                </a:solidFill>
              </a:rPr>
              <a:t>Plus de</a:t>
            </a:r>
            <a:r>
              <a:rPr sz="2000">
                <a:solidFill>
                  <a:srgbClr val="333333"/>
                </a:solidFill>
              </a:rPr>
              <a:t> — ce qu'on voudrait davantage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</a:rPr>
              <a:t>🆕  </a:t>
            </a:r>
            <a:r>
              <a:rPr sz="2000" b="1">
                <a:solidFill>
                  <a:srgbClr val="0077B6"/>
                </a:solidFill>
              </a:rPr>
              <a:t>Commencer</a:t>
            </a:r>
            <a:r>
              <a:rPr sz="2000">
                <a:solidFill>
                  <a:srgbClr val="333333"/>
                </a:solidFill>
              </a:rPr>
              <a:t> — ce qu'on devrait initier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</a:rPr>
              <a:t>➖  </a:t>
            </a:r>
            <a:r>
              <a:rPr sz="2000" b="1">
                <a:solidFill>
                  <a:srgbClr val="0077B6"/>
                </a:solidFill>
              </a:rPr>
              <a:t>Moins de</a:t>
            </a:r>
            <a:r>
              <a:rPr sz="2000">
                <a:solidFill>
                  <a:srgbClr val="333333"/>
                </a:solidFill>
              </a:rPr>
              <a:t> — ce qu'on devrait réduire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</a:rPr>
              <a:t>⏹️  </a:t>
            </a:r>
            <a:r>
              <a:rPr sz="2000" b="1">
                <a:solidFill>
                  <a:srgbClr val="0077B6"/>
                </a:solidFill>
              </a:rPr>
              <a:t>Arrêter</a:t>
            </a:r>
            <a:r>
              <a:rPr sz="2000">
                <a:solidFill>
                  <a:srgbClr val="333333"/>
                </a:solidFill>
              </a:rPr>
              <a:t> — ce qui ne fonctionne pas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</a:rPr>
              <a:t/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</a:rPr>
              <a:t>1 post-it par branche → lecture collective → </a:t>
            </a:r>
            <a:r>
              <a:rPr sz="2000" b="1">
                <a:solidFill>
                  <a:srgbClr val="0077B6"/>
                </a:solidFill>
              </a:rPr>
              <a:t>actions concrètes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3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371600"/>
            <a:ext cx="121889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/>
              <a:t>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112745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Jeopardy Agile + Clôture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i="1">
                <a:solidFill>
                  <a:srgbClr val="90E0EF"/>
                </a:solidFill>
              </a:rPr>
              <a:t>16h20 – 17h00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3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🏆  Jeopardy Agile — Catégories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</a:rPr>
              <a:t>5 catégories × 3 niveaux (100 / 200 / 300 points)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</a:rPr>
              <a:t/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</a:rPr>
              <a:t>📜  </a:t>
            </a:r>
            <a:r>
              <a:rPr sz="2000" b="1">
                <a:solidFill>
                  <a:srgbClr val="0077B6"/>
                </a:solidFill>
              </a:rPr>
              <a:t>Manifeste Agile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</a:rPr>
              <a:t>🏉  </a:t>
            </a:r>
            <a:r>
              <a:rPr sz="2000" b="1">
                <a:solidFill>
                  <a:srgbClr val="0077B6"/>
                </a:solidFill>
              </a:rPr>
              <a:t>Scrum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</a:rPr>
              <a:t>📊  </a:t>
            </a:r>
            <a:r>
              <a:rPr sz="2000" b="1">
                <a:solidFill>
                  <a:srgbClr val="0077B6"/>
                </a:solidFill>
              </a:rPr>
              <a:t>Kanban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</a:rPr>
              <a:t>💻  </a:t>
            </a:r>
            <a:r>
              <a:rPr sz="2000" b="1">
                <a:solidFill>
                  <a:srgbClr val="0077B6"/>
                </a:solidFill>
              </a:rPr>
              <a:t>XP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</a:rPr>
              <a:t>🌍  </a:t>
            </a:r>
            <a:r>
              <a:rPr sz="2000" b="1">
                <a:solidFill>
                  <a:srgbClr val="0077B6"/>
                </a:solidFill>
              </a:rPr>
              <a:t>Agile IRL</a:t>
            </a:r>
            <a:r>
              <a:rPr sz="2000">
                <a:solidFill>
                  <a:srgbClr val="333333"/>
                </a:solidFill>
              </a:rPr>
              <a:t> (cas pratiques)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</a:rPr>
              <a:t/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</a:rPr>
              <a:t>30 secondes pour répondre — mauvaise réponse = vol possible !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3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🏆  Trophées &amp; Clôture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</a:rPr>
              <a:t>🥇  </a:t>
            </a:r>
            <a:r>
              <a:rPr sz="2000" b="1">
                <a:solidFill>
                  <a:srgbClr val="0077B6"/>
                </a:solidFill>
              </a:rPr>
              <a:t>Équipe la plus Agile</a:t>
            </a:r>
            <a:r>
              <a:rPr sz="2000">
                <a:solidFill>
                  <a:srgbClr val="333333"/>
                </a:solidFill>
              </a:rPr>
              <a:t> — meilleur score global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</a:rPr>
              <a:t>💡  </a:t>
            </a:r>
            <a:r>
              <a:rPr sz="2000" b="1">
                <a:solidFill>
                  <a:srgbClr val="0077B6"/>
                </a:solidFill>
              </a:rPr>
              <a:t>Question la plus pertinente</a:t>
            </a:r>
            <a:r>
              <a:rPr sz="2000">
                <a:solidFill>
                  <a:srgbClr val="333333"/>
                </a:solidFill>
              </a:rPr>
              <a:t> de la formation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</a:rPr>
              <a:t>🏗️  </a:t>
            </a:r>
            <a:r>
              <a:rPr sz="2000" b="1">
                <a:solidFill>
                  <a:srgbClr val="0077B6"/>
                </a:solidFill>
              </a:rPr>
              <a:t>Plus belle construction Kapla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</a:rPr>
              <a:t/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0077B6"/>
                </a:solidFill>
              </a:rPr>
              <a:t>ROTI</a:t>
            </a:r>
            <a:r>
              <a:rPr sz="2000">
                <a:solidFill>
                  <a:srgbClr val="333333"/>
                </a:solidFill>
              </a:rPr>
              <a:t> — Return On Time Invested (vote 1→5)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0077B6"/>
                </a:solidFill>
              </a:rPr>
              <a:t>3 mots</a:t>
            </a:r>
            <a:r>
              <a:rPr sz="2000">
                <a:solidFill>
                  <a:srgbClr val="333333"/>
                </a:solidFill>
              </a:rPr>
              <a:t> pour résumer la formation → nuage de mots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</a:rPr>
              <a:t/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</a:rPr>
              <a:t>📚  Ressources :</a:t>
            </a:r>
          </a:p>
          <a:p>
            <a:pPr lvl="1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Scrum.org  |  Kanbanize.com  |  Agile Alliance</a:t>
            </a:r>
          </a:p>
          <a:p>
            <a:pPr lvl="1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Vidéo : « Spotify Engineering Culture »</a:t>
            </a:r>
          </a:p>
          <a:p>
            <a:pPr lvl="1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Vidéo : « Agile Product Ownership in a Nutshell 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5029200"/>
            <a:ext cx="8229600" cy="731520"/>
          </a:xfrm>
          <a:prstGeom prst="roundRect">
            <a:avLst/>
          </a:prstGeom>
          <a:solidFill>
            <a:srgbClr val="2D9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Merci et bonne continuation ! 🚀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3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371600"/>
            <a:ext cx="121889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/>
              <a:t>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112745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Merci 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i="1">
                <a:solidFill>
                  <a:srgbClr val="90E0EF"/>
                </a:solidFill>
              </a:rPr>
              <a:t>« Les individus et leurs interactions
plus que les processus et les outils »
— Manifeste Agile, 2001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